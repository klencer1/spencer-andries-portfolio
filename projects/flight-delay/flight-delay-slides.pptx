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2F1D3F-79E0-453D-942C-C5A276D6953A}">
  <a:tblStyle styleId="{CB2F1D3F-79E0-453D-942C-C5A276D6953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78deb272b_0_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78deb272b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78deb272b_0_8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978deb272b_0_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3"/>
          <p:cNvGrpSpPr/>
          <p:nvPr/>
        </p:nvGrpSpPr>
        <p:grpSpPr>
          <a:xfrm>
            <a:off x="640080" y="1062990"/>
            <a:ext cx="7772400" cy="3017520"/>
            <a:chOff x="640080" y="1008924"/>
            <a:chExt cx="7772400" cy="3017520"/>
          </a:xfrm>
        </p:grpSpPr>
        <p:sp>
          <p:nvSpPr>
            <p:cNvPr id="13" name="Google Shape;13;p3"/>
            <p:cNvSpPr/>
            <p:nvPr/>
          </p:nvSpPr>
          <p:spPr>
            <a:xfrm>
              <a:off x="640080" y="1008924"/>
              <a:ext cx="7772400" cy="1463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Trebuchet MS"/>
                <a:buNone/>
              </a:pPr>
              <a:r>
                <a:rPr b="1" i="0" lang="en-US" sz="34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Quantifying and Predicting</a:t>
              </a:r>
              <a:endPara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Trebuchet MS"/>
                <a:buNone/>
              </a:pPr>
              <a:r>
                <a:rPr b="1" i="0" lang="en-US" sz="34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Flight Delay Propagation</a:t>
              </a:r>
              <a:endPara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3"/>
            <p:cNvSpPr/>
            <p:nvPr/>
          </p:nvSpPr>
          <p:spPr>
            <a:xfrm>
              <a:off x="640080" y="2471964"/>
              <a:ext cx="7315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A90D9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4A90D9"/>
                  </a:solidFill>
                  <a:latin typeface="Calibri"/>
                  <a:ea typeface="Calibri"/>
                  <a:cs typeface="Calibri"/>
                  <a:sym typeface="Calibri"/>
                </a:rPr>
                <a:t>Using Statistical Learning Methods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" name="Google Shape;15;p3"/>
            <p:cNvCxnSpPr/>
            <p:nvPr/>
          </p:nvCxnSpPr>
          <p:spPr>
            <a:xfrm>
              <a:off x="640080" y="3112044"/>
              <a:ext cx="2286000" cy="0"/>
            </a:xfrm>
            <a:prstGeom prst="straightConnector1">
              <a:avLst/>
            </a:prstGeom>
            <a:noFill/>
            <a:ln cap="flat" cmpd="sng" w="38100">
              <a:solidFill>
                <a:srgbClr val="E8793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" name="Google Shape;16;p3"/>
            <p:cNvSpPr/>
            <p:nvPr/>
          </p:nvSpPr>
          <p:spPr>
            <a:xfrm>
              <a:off x="640080" y="3340644"/>
              <a:ext cx="7315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6E8F7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D6E8F7"/>
                  </a:solidFill>
                  <a:latin typeface="Calibri"/>
                  <a:ea typeface="Calibri"/>
                  <a:cs typeface="Calibri"/>
                  <a:sym typeface="Calibri"/>
                </a:rPr>
                <a:t>Spencer Andries  |  Niaz Azeez  |  Kylie Breeding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640080" y="3706404"/>
              <a:ext cx="73152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7A9CC6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7A9CC6"/>
                  </a:solidFill>
                  <a:latin typeface="Calibri"/>
                  <a:ea typeface="Calibri"/>
                  <a:cs typeface="Calibri"/>
                  <a:sym typeface="Calibri"/>
                </a:rPr>
                <a:t>STAT 654  —  Texas A&amp;M University  —  Spring 2026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Presentation Roadmap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417320" y="12344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and Motivation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417320" y="1527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Why flight delay propagation matters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40080" y="1938528"/>
            <a:ext cx="78638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1417320" y="198424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Data and Feature Engineering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417320" y="22768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Dataset, cleaning, and derived features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" y="2688336"/>
            <a:ext cx="786384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417320" y="273405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Exploratory Data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417320" y="3026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Key patterns and visual insights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" y="3438144"/>
            <a:ext cx="78638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417320" y="348386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Statistical Modeling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417320" y="37764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Classification &amp; regression approaches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80" y="4187952"/>
            <a:ext cx="786384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417320" y="42336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and Conclusions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417320" y="45262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Findings, limitations, and future 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" name="Google Shape;39;p4"/>
          <p:cNvGrpSpPr/>
          <p:nvPr/>
        </p:nvGrpSpPr>
        <p:grpSpPr>
          <a:xfrm>
            <a:off x="856733" y="1428649"/>
            <a:ext cx="156520" cy="3145042"/>
            <a:chOff x="856733" y="1321555"/>
            <a:chExt cx="156520" cy="3145042"/>
          </a:xfrm>
        </p:grpSpPr>
        <p:sp>
          <p:nvSpPr>
            <p:cNvPr id="40" name="Google Shape;40;p4"/>
            <p:cNvSpPr/>
            <p:nvPr/>
          </p:nvSpPr>
          <p:spPr>
            <a:xfrm>
              <a:off x="856733" y="1321555"/>
              <a:ext cx="156519" cy="145810"/>
            </a:xfrm>
            <a:prstGeom prst="ellipse">
              <a:avLst/>
            </a:prstGeom>
            <a:solidFill>
              <a:srgbClr val="1F386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856734" y="2071363"/>
              <a:ext cx="156519" cy="145810"/>
            </a:xfrm>
            <a:prstGeom prst="ellipse">
              <a:avLst/>
            </a:prstGeom>
            <a:solidFill>
              <a:srgbClr val="1F386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856733" y="2821171"/>
              <a:ext cx="156519" cy="145810"/>
            </a:xfrm>
            <a:prstGeom prst="ellipse">
              <a:avLst/>
            </a:prstGeom>
            <a:solidFill>
              <a:srgbClr val="1F386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856733" y="3570443"/>
              <a:ext cx="156519" cy="145810"/>
            </a:xfrm>
            <a:prstGeom prst="ellipse">
              <a:avLst/>
            </a:prstGeom>
            <a:solidFill>
              <a:srgbClr val="1F386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856733" y="4320787"/>
              <a:ext cx="156519" cy="145810"/>
            </a:xfrm>
            <a:prstGeom prst="ellipse">
              <a:avLst/>
            </a:prstGeom>
            <a:solidFill>
              <a:srgbClr val="1F386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1097280" y="11887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93A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E8793A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Question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554480" y="1554480"/>
            <a:ext cx="6675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To what extent do delays propagate between sequential flights of the same aircraft, and which factors best predict downstream delay?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40080" y="2743200"/>
            <a:ext cx="7863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When an aircraft arrives late, the next flight it operates is often delayed too — a cascading effect.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Airlines, airports, and passengers bear the cost. Understanding which factors drive propagation could help mitigate it.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We use statistical learning methods from STAT 654 to quantify and predict this phenomenon.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Data Overview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40080" y="1188720"/>
            <a:ext cx="1901952" cy="146304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640080" y="1325880"/>
            <a:ext cx="1901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E6B9E"/>
                </a:solidFill>
                <a:latin typeface="Trebuchet MS"/>
                <a:ea typeface="Trebuchet MS"/>
                <a:cs typeface="Trebuchet MS"/>
                <a:sym typeface="Trebuchet MS"/>
              </a:rPr>
              <a:t>5.8M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40080" y="1828800"/>
            <a:ext cx="1901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Total Flights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640080" y="2121408"/>
            <a:ext cx="1901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U.S. domestic, 2015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2724912" y="1188720"/>
            <a:ext cx="1901952" cy="146304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2724912" y="1325880"/>
            <a:ext cx="1901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E6B9E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2724912" y="1828800"/>
            <a:ext cx="1901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Airlines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2724912" y="2121408"/>
            <a:ext cx="1901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Major U.S. carriers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809744" y="1188720"/>
            <a:ext cx="1901952" cy="146304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4809744" y="1325880"/>
            <a:ext cx="1901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E6B9E"/>
                </a:solidFill>
                <a:latin typeface="Trebuchet MS"/>
                <a:ea typeface="Trebuchet MS"/>
                <a:cs typeface="Trebuchet MS"/>
                <a:sym typeface="Trebuchet MS"/>
              </a:rPr>
              <a:t>322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809744" y="1828800"/>
            <a:ext cx="1901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Airports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809744" y="2121408"/>
            <a:ext cx="1901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Origin airports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894576" y="1188720"/>
            <a:ext cx="1901952" cy="146304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6894576" y="1325880"/>
            <a:ext cx="1901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2E6B9E"/>
                </a:solidFill>
                <a:latin typeface="Trebuchet MS"/>
                <a:ea typeface="Trebuchet MS"/>
                <a:cs typeface="Trebuchet MS"/>
                <a:sym typeface="Trebuchet MS"/>
              </a:rPr>
              <a:t>~500K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894576" y="1828800"/>
            <a:ext cx="1901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Modeled Flights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894576" y="2121408"/>
            <a:ext cx="1901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After cleaning &amp; linking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40080" y="2880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Source: Kaggle — 2015 U.S. Flight Delays and Cancellations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40080" y="329184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Key Steps: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Tracked aircraft by tail number to link sequential flights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Converted HHMM times to datetime for accurate turnaround calculations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Filtered invalid sequences (negative turnaround, mismatched airports)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Capped extreme delays at 600 minutes to reduce distortion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Engineering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" name="Google Shape;85;p7"/>
          <p:cNvGraphicFramePr/>
          <p:nvPr/>
        </p:nvGraphicFramePr>
        <p:xfrm>
          <a:off x="64008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{CB2F1D3F-79E0-453D-942C-C5A276D6953A}</a:tableStyleId>
              </a:tblPr>
              <a:tblGrid>
                <a:gridCol w="2194550"/>
                <a:gridCol w="3840475"/>
                <a:gridCol w="18288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Feature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Description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Category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prev_arrival_delay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Minutes</a:t>
                      </a: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late the previous flight arrived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6B9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6B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Propagation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turnaround_time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between arrival and next departure (</a:t>
                      </a:r>
                      <a:r>
                        <a:rPr lang="en-US" sz="1100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minute</a:t>
                      </a: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6B9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6B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Propagation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airport_congestion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delay at that airport/hour combination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6B9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6B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Environment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hour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Hour of scheduled departure (0–23)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6B9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6B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Temporal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DAY_OF_WEEK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 of the week (1=Mon – 7=Sun)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6B9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6B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Temporal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AIRLINE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Carrier code (14 airlines, one-hot encoded)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6B9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6B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86;p7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Response variable: delay_indicator (1 if departure delay &gt; 15 min, else 0) and DEPARTURE_DELAY (minutes)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Departure Delay Distribution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lot_cell31.png" id="93" name="Google Shape;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05840"/>
            <a:ext cx="475488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8"/>
          <p:cNvSpPr/>
          <p:nvPr/>
        </p:nvSpPr>
        <p:spPr>
          <a:xfrm>
            <a:off x="5486400" y="1188720"/>
            <a:ext cx="3200400" cy="301752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5669280" y="12801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93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E8793A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5669280" y="1691640"/>
            <a:ext cx="28346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Heavily right-skewed: most flights depart on time or early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82.3% of flights are not delayed (delay ≤ 15 min)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Only 17.7% classified as delayed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Class imbalance must be considered in modeling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Delay Propagation Is Real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lot_cell40.png" id="103" name="Google Shape;1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05840"/>
            <a:ext cx="475488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5303520" y="1097280"/>
            <a:ext cx="3474720" cy="118872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5394960" y="114300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70%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6675120" y="11430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chance of outbound delay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when inbound is delayed (&gt;15 min)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5394960" y="18745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vs. only 10% when inbound is on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5303520" y="2560320"/>
            <a:ext cx="3474720" cy="6400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5394960" y="26060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2E6B9E"/>
                </a:solidFill>
                <a:latin typeface="Trebuchet MS"/>
                <a:ea typeface="Trebuchet MS"/>
                <a:cs typeface="Trebuchet MS"/>
                <a:sym typeface="Trebuchet MS"/>
              </a:rPr>
              <a:t>r = 0.469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6766549" y="2628950"/>
            <a:ext cx="165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Correlation between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inbound &amp; outbound delay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5303520" y="33832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Moderate correlation suggests a nonlinear relationship — other factors at play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Turnaround Time and Delay Interaction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lot_cell37.png" id="118" name="Google Shape;1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4114800" cy="3474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lot_cell41.png" id="119" name="Google Shape;11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960120"/>
            <a:ext cx="43891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Moderate turnaround windows (120–300 min) show the highest delay rate. Very long turnarounds (300–600 min) allow recovery. When the inbound flight is delayed, short turnarounds amplify risk the most.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Temporal Patterns in Delays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lot_cell48.png" id="127" name="Google Shape;1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420624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lot_cell51.png" id="128" name="Google Shape;12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960120"/>
            <a:ext cx="420624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1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Delays build throughout the day, peaking in late evening. Early-morning flights have the lowest delay risk. Day-of-week differences are minor (~15–18%), with Saturday slightly lower.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Airline and Airport Congestion Effects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lot_cell58.png" id="136" name="Google Shape;1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960120"/>
            <a:ext cx="4754880" cy="3017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lot_cell44.png" id="137" name="Google Shape;1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960120"/>
            <a:ext cx="402336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2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Delay probability varies widely by airline (7% for HA to 27% for NK). Airport congestion shows a positive relationship with departure delay, motivating its inclusion as a feature.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Delay Causes and Feature Correlations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lot_cell55.png" id="145" name="Google Shape;1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960120"/>
            <a:ext cx="393192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lot_cell63.png" id="146" name="Google Shape;1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960120"/>
            <a:ext cx="45720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3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Airline-related and air-system delays dominate; weather and security are minimal. The heatmap confirms prev_arrival_delay and airport_congestion as strong correlates of departure delay.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Modeling Strategy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640080" y="1097280"/>
            <a:ext cx="3749040" cy="347472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822960" y="11887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2E6B9E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822960" y="15544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Will this flight be delayed (&gt;15 min)?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822960" y="1965960"/>
            <a:ext cx="3383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Baseline: prev_arrival_delay only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Baseline+1: + turnaround_time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Full Model: all 6 predictors + airline dummies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Lasso Logistic: L1 regularization for variable selection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4754880" y="1097280"/>
            <a:ext cx="3749040" cy="347472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4937760" y="11887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93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E8793A"/>
                </a:solidFill>
                <a:latin typeface="Trebuchet MS"/>
                <a:ea typeface="Trebuchet MS"/>
                <a:cs typeface="Trebuchet MS"/>
                <a:sym typeface="Trebuchet MS"/>
              </a:rPr>
              <a:t>Regression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4937760" y="15544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How many minutes will it be delayed?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4937760" y="1965960"/>
            <a:ext cx="3383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OLS Linear Regression with all predictors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Lasso Linear: L1 regularization to check for overfitting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Metrics: RMSE, R²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80/20 train-test split throughout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Classification: Building Up the Model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640080" y="1097280"/>
            <a:ext cx="2651760" cy="329184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640080" y="1097280"/>
            <a:ext cx="265176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640080" y="11155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Baseline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640080" y="169164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2E6B9E"/>
                </a:solidFill>
                <a:latin typeface="Trebuchet MS"/>
                <a:ea typeface="Trebuchet MS"/>
                <a:cs typeface="Trebuchet MS"/>
                <a:sym typeface="Trebuchet MS"/>
              </a:rPr>
              <a:t>0.777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640080" y="21488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640080" y="24688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86.3%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777240" y="28346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3D5A80"/>
                </a:solidFill>
                <a:latin typeface="Consolas"/>
                <a:ea typeface="Consolas"/>
                <a:cs typeface="Consolas"/>
                <a:sym typeface="Consolas"/>
              </a:rPr>
              <a:t>log(p/(1-p)) = -1.78 + 0.048 × prev_delay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777240" y="34747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93A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E8793A"/>
                </a:solidFill>
                <a:latin typeface="Calibri"/>
                <a:ea typeface="Calibri"/>
                <a:cs typeface="Calibri"/>
                <a:sym typeface="Calibri"/>
              </a:rPr>
              <a:t>Catches only 28% of delays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0" y="23774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/>
          <p:nvPr/>
        </p:nvSpPr>
        <p:spPr>
          <a:xfrm>
            <a:off x="3474720" y="1097280"/>
            <a:ext cx="2651760" cy="329184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3474720" y="1097280"/>
            <a:ext cx="265176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3474720" y="11155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Baseline + 1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474720" y="169164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2E6B9E"/>
                </a:solidFill>
                <a:latin typeface="Trebuchet MS"/>
                <a:ea typeface="Trebuchet MS"/>
                <a:cs typeface="Trebuchet MS"/>
                <a:sym typeface="Trebuchet MS"/>
              </a:rPr>
              <a:t>0.785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474720" y="21488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474720" y="24688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86.3%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3611880" y="28346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3D5A80"/>
                </a:solidFill>
                <a:latin typeface="Consolas"/>
                <a:ea typeface="Consolas"/>
                <a:cs typeface="Consolas"/>
                <a:sym typeface="Consolas"/>
              </a:rPr>
              <a:t>+ turnaround_time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3611880" y="34747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93A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E8793A"/>
                </a:solidFill>
                <a:latin typeface="Calibri"/>
                <a:ea typeface="Calibri"/>
                <a:cs typeface="Calibri"/>
                <a:sym typeface="Calibri"/>
              </a:rPr>
              <a:t>Slight AUC improvement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0" y="23774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5"/>
          <p:cNvSpPr/>
          <p:nvPr/>
        </p:nvSpPr>
        <p:spPr>
          <a:xfrm>
            <a:off x="6309360" y="1097280"/>
            <a:ext cx="2651760" cy="329184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6309360" y="1097280"/>
            <a:ext cx="2651760" cy="41148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6309360" y="11155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Full Model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6309360" y="169164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B9E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2E6B9E"/>
                </a:solidFill>
                <a:latin typeface="Trebuchet MS"/>
                <a:ea typeface="Trebuchet MS"/>
                <a:cs typeface="Trebuchet MS"/>
                <a:sym typeface="Trebuchet MS"/>
              </a:rPr>
              <a:t>0.828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6309360" y="21488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6309360" y="24688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86.9%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6446520" y="28346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3D5A80"/>
                </a:solidFill>
                <a:latin typeface="Consolas"/>
                <a:ea typeface="Consolas"/>
                <a:cs typeface="Consolas"/>
                <a:sym typeface="Consolas"/>
              </a:rPr>
              <a:t>+ congestion, hour, day, airline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6446520" y="34747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93A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E8793A"/>
                </a:solidFill>
                <a:latin typeface="Calibri"/>
                <a:ea typeface="Calibri"/>
                <a:cs typeface="Calibri"/>
                <a:sym typeface="Calibri"/>
              </a:rPr>
              <a:t>Catches 35% of delays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 Model Comparison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odel_comparison_auc.png" id="200" name="Google Shape;2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14400"/>
            <a:ext cx="50292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/>
          <p:cNvSpPr/>
          <p:nvPr/>
        </p:nvSpPr>
        <p:spPr>
          <a:xfrm>
            <a:off x="5577840" y="1097280"/>
            <a:ext cx="3200400" cy="29260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5760720" y="11887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93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E8793A"/>
                </a:solidFill>
                <a:latin typeface="Trebuchet MS"/>
                <a:ea typeface="Trebuchet MS"/>
                <a:cs typeface="Trebuchet MS"/>
                <a:sym typeface="Trebuchet MS"/>
              </a:rPr>
              <a:t>Interpretation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5760720" y="1600200"/>
            <a:ext cx="28346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AUC jumped from 0.777 → 0.828 as more predictors were added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Lasso confirmed no overfitting (identical AUC to full model)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Biggest gain came from adding congestion, hour, and airline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All predictors significant at p &lt; 0.05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Confusion Matrix — Full Logistic Model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onfusion_matrix_full.png" id="210" name="Google Shape;2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14400"/>
            <a:ext cx="45720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7"/>
          <p:cNvSpPr/>
          <p:nvPr/>
        </p:nvSpPr>
        <p:spPr>
          <a:xfrm>
            <a:off x="5303520" y="1097280"/>
            <a:ext cx="3474720" cy="32004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5486400" y="11887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93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E8793A"/>
                </a:solidFill>
                <a:latin typeface="Trebuchet MS"/>
                <a:ea typeface="Trebuchet MS"/>
                <a:cs typeface="Trebuchet MS"/>
                <a:sym typeface="Trebuchet MS"/>
              </a:rPr>
              <a:t>Key Metrics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5486400" y="1600200"/>
            <a:ext cx="31089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Accuracy: 86.9%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Sensitivity (recall): 34.5% — catches about 1 in 3 actual delays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Specificity: 98.2% — excellent at identifying on-time flights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The model is conservative: it rarely falsely predicts a delay, but misses many actual delays due to class imbalance (82% vs 18%)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Which Predictors Matter Most?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asso_coefficients.png" id="220" name="Google Shape;2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822960"/>
            <a:ext cx="50292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/>
          <p:nvPr/>
        </p:nvSpPr>
        <p:spPr>
          <a:xfrm>
            <a:off x="5394960" y="1097280"/>
            <a:ext cx="3383280" cy="33832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5577840" y="11887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93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E8793A"/>
                </a:solidFill>
                <a:latin typeface="Trebuchet MS"/>
                <a:ea typeface="Trebuchet MS"/>
                <a:cs typeface="Trebuchet MS"/>
                <a:sym typeface="Trebuchet MS"/>
              </a:rPr>
              <a:t>Lasso Results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5577840" y="1600200"/>
            <a:ext cx="3017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prev_arrival_delay is the dominant predictor by far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airport_congestion and hour are the next most important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 coefficients zeroed out — all features contribute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DAY_OF_WEEK near zero (-0.011), least important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United Airlines (UA) most delay-prone; Hawaiian (HA) least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640080" y="36576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Regression: Predicting Delay Minutes</a:t>
            </a:r>
            <a:endParaRPr b="1" sz="2800">
              <a:solidFill>
                <a:srgbClr val="1B2A4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457200" y="1143000"/>
            <a:ext cx="269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OLS Coefficient</a:t>
            </a: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19"/>
          <p:cNvGraphicFramePr/>
          <p:nvPr/>
        </p:nvGraphicFramePr>
        <p:xfrm>
          <a:off x="411480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{CB2F1D3F-79E0-453D-942C-C5A276D6953A}</a:tableStyleId>
              </a:tblPr>
              <a:tblGrid>
                <a:gridCol w="1245700"/>
                <a:gridCol w="832575"/>
                <a:gridCol w="6629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Coef</a:t>
                      </a: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ficient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p-value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090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prev_arrival_delay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&lt;0.001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airport_congestion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&lt;0.001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AIRLINE_UA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4.385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&lt;0.001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-0.030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turnaround_time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&lt;0.001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" name="Google Shape;231;p19"/>
          <p:cNvSpPr/>
          <p:nvPr/>
        </p:nvSpPr>
        <p:spPr>
          <a:xfrm>
            <a:off x="3323825" y="1106425"/>
            <a:ext cx="5298900" cy="17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R²  =  0.319</a:t>
            </a:r>
            <a:endParaRPr b="1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Linear regression explains ~32% of variation in delay minutes</a:t>
            </a:r>
            <a:endParaRPr sz="15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Remaining 68% of variation reflects unmeasured factors (weather details, mechanical issues, crew scheduling)</a:t>
            </a:r>
            <a:endParaRPr sz="15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RMSE  =  28.1 min</a:t>
            </a:r>
            <a:endParaRPr b="1"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Predictions are off by about half an hour on average</a:t>
            </a:r>
            <a:br>
              <a:rPr lang="en-US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3244450" y="3155150"/>
            <a:ext cx="571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Lasso zeroed out airlines B6, MQ, and VX</a:t>
            </a:r>
            <a:endParaRPr sz="15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 additional explanatory power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/>
          <p:nvPr/>
        </p:nvSpPr>
        <p:spPr>
          <a:xfrm>
            <a:off x="640080" y="36576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Model Performance Summary</a:t>
            </a:r>
            <a:endParaRPr b="1" sz="2800">
              <a:solidFill>
                <a:srgbClr val="1B2A4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8" name="Google Shape;2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6722"/>
            <a:ext cx="8839200" cy="2090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1417320" y="112471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Propagation is real and measurable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1417320" y="143560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Flights following a delayed inbound aircraft have a 7× higher chance of being delayed themselves.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1417320" y="20848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prev_arrival_delay is the strongest predictor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1417320" y="239572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Both classification and regression models show it dominates all other features by a wide margin.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1417320" y="3044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Full model achieves AUC of 0.830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1417320" y="335584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Adding congestion, time-of-day, and airline significantly improved predictions over the baseline.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1417320" y="400507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 remain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1417320" y="431596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D5A80"/>
                </a:solidFill>
                <a:latin typeface="Calibri"/>
                <a:ea typeface="Calibri"/>
                <a:cs typeface="Calibri"/>
                <a:sym typeface="Calibri"/>
              </a:rPr>
              <a:t>32% R² in regression means most delay variation is still unexplained — better data (weather, crew, mechanical) could help.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p21"/>
          <p:cNvGrpSpPr/>
          <p:nvPr/>
        </p:nvGrpSpPr>
        <p:grpSpPr>
          <a:xfrm>
            <a:off x="851583" y="1378441"/>
            <a:ext cx="161668" cy="3026170"/>
            <a:chOff x="851583" y="1188967"/>
            <a:chExt cx="161668" cy="3026170"/>
          </a:xfrm>
        </p:grpSpPr>
        <p:sp>
          <p:nvSpPr>
            <p:cNvPr id="258" name="Google Shape;258;p21"/>
            <p:cNvSpPr/>
            <p:nvPr/>
          </p:nvSpPr>
          <p:spPr>
            <a:xfrm>
              <a:off x="851583" y="1188967"/>
              <a:ext cx="156519" cy="145810"/>
            </a:xfrm>
            <a:prstGeom prst="ellipse">
              <a:avLst/>
            </a:prstGeom>
            <a:solidFill>
              <a:srgbClr val="1F386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856731" y="2149087"/>
              <a:ext cx="156519" cy="145810"/>
            </a:xfrm>
            <a:prstGeom prst="ellipse">
              <a:avLst/>
            </a:prstGeom>
            <a:solidFill>
              <a:srgbClr val="1F386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856732" y="3109207"/>
              <a:ext cx="156519" cy="145810"/>
            </a:xfrm>
            <a:prstGeom prst="ellipse">
              <a:avLst/>
            </a:prstGeom>
            <a:solidFill>
              <a:srgbClr val="1F386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856732" y="4069327"/>
              <a:ext cx="156519" cy="145810"/>
            </a:xfrm>
            <a:prstGeom prst="ellipse">
              <a:avLst/>
            </a:prstGeom>
            <a:solidFill>
              <a:srgbClr val="1F3864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Work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640080" y="1188720"/>
            <a:ext cx="7863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Incorporate granular weather data (METAR/ASOS) as additional features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6E8F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Explore nonlinear methods (Random Forest, Gradient Boosting) to improve R²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6E8F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Address class imbalance with SMOTE or adjusted thresholds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6E8F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Extend to multi-hop propagation (3+ sequential flights)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6E8F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Test on more recent data (post-COVID) to assess generalizability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22"/>
          <p:cNvCxnSpPr/>
          <p:nvPr/>
        </p:nvCxnSpPr>
        <p:spPr>
          <a:xfrm>
            <a:off x="640080" y="3657600"/>
            <a:ext cx="7863840" cy="0"/>
          </a:xfrm>
          <a:prstGeom prst="straightConnector1">
            <a:avLst/>
          </a:prstGeom>
          <a:noFill/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22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you!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CC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7A9CC6"/>
                </a:solidFill>
                <a:latin typeface="Calibri"/>
                <a:ea typeface="Calibri"/>
                <a:cs typeface="Calibri"/>
                <a:sym typeface="Calibri"/>
              </a:rPr>
              <a:t>Spencer Andries  |  Niaz Azeez  |  Kylie Breeding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